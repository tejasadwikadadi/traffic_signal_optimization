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16"/>
  </p:notesMasterIdLst>
  <p:sldIdLst>
    <p:sldId id="312" r:id="rId2"/>
    <p:sldId id="311" r:id="rId3"/>
    <p:sldId id="310" r:id="rId4"/>
    <p:sldId id="314" r:id="rId5"/>
    <p:sldId id="313" r:id="rId6"/>
    <p:sldId id="318" r:id="rId7"/>
    <p:sldId id="321" r:id="rId8"/>
    <p:sldId id="319" r:id="rId9"/>
    <p:sldId id="316" r:id="rId10"/>
    <p:sldId id="320" r:id="rId11"/>
    <p:sldId id="317" r:id="rId12"/>
    <p:sldId id="322" r:id="rId13"/>
    <p:sldId id="325" r:id="rId14"/>
    <p:sldId id="32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8945C3-56A6-4DEF-B597-61735B8C7FE5}" type="datetimeFigureOut">
              <a:rPr lang="en-IN" smtClean="0"/>
              <a:t>30-05-2026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055323-1E4A-43AD-B455-FFAD97B02505}" type="slidenum">
              <a:rPr lang="en-IN" smtClean="0"/>
              <a:t>‹#›</a:t>
            </a:fld>
            <a:endParaRPr lang="en-IN"/>
          </a:p>
        </p:txBody>
      </p:sp>
    </p:spTree>
    <p:extLst>
      <p:ext uri="{BB962C8B-B14F-4D97-AF65-F5344CB8AC3E}">
        <p14:creationId xmlns:p14="http://schemas.microsoft.com/office/powerpoint/2010/main" val="1601321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5/30/2026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5/30/2026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5/30/2026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5/30/2026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639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28015760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13743399"/>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5/30/2026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1062228" y="2432304"/>
            <a:ext cx="10360152" cy="919861"/>
          </a:xfrm>
        </p:spPr>
        <p:txBody>
          <a:bodyPr anchor="b">
            <a:noAutofit/>
          </a:bodyPr>
          <a:lstStyle/>
          <a:p>
            <a:r>
              <a:rPr lang="en-IN" sz="3200" dirty="0"/>
              <a:t>Traffic Signal Optimization (Rule-Based)</a:t>
            </a:r>
            <a:endParaRPr lang="en-US" sz="3200" b="1" dirty="0"/>
          </a:p>
        </p:txBody>
      </p:sp>
      <p:sp>
        <p:nvSpPr>
          <p:cNvPr id="2" name="TextBox 1">
            <a:extLst>
              <a:ext uri="{FF2B5EF4-FFF2-40B4-BE49-F238E27FC236}">
                <a16:creationId xmlns:a16="http://schemas.microsoft.com/office/drawing/2014/main" id="{FB75A40A-858C-BCAD-834A-A3D07B63C6BF}"/>
              </a:ext>
            </a:extLst>
          </p:cNvPr>
          <p:cNvSpPr txBox="1"/>
          <p:nvPr/>
        </p:nvSpPr>
        <p:spPr>
          <a:xfrm>
            <a:off x="8525256" y="5111496"/>
            <a:ext cx="3666744"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Team Members:</a:t>
            </a:r>
          </a:p>
          <a:p>
            <a:r>
              <a:rPr lang="en-IN" dirty="0">
                <a:latin typeface="Times New Roman" panose="02020603050405020304" pitchFamily="18" charset="0"/>
                <a:cs typeface="Times New Roman" panose="02020603050405020304" pitchFamily="18" charset="0"/>
              </a:rPr>
              <a:t>                2520030529-Thrinadh</a:t>
            </a:r>
          </a:p>
          <a:p>
            <a:r>
              <a:rPr lang="en-IN" dirty="0">
                <a:latin typeface="Times New Roman" panose="02020603050405020304" pitchFamily="18" charset="0"/>
                <a:cs typeface="Times New Roman" panose="02020603050405020304" pitchFamily="18" charset="0"/>
              </a:rPr>
              <a:t>                2520030531-Venya Shri</a:t>
            </a:r>
          </a:p>
          <a:p>
            <a:r>
              <a:rPr lang="en-IN" dirty="0">
                <a:latin typeface="Times New Roman" panose="02020603050405020304" pitchFamily="18" charset="0"/>
                <a:cs typeface="Times New Roman" panose="02020603050405020304" pitchFamily="18" charset="0"/>
              </a:rPr>
              <a:t>                2520030536-Teja </a:t>
            </a:r>
            <a:r>
              <a:rPr lang="en-IN" dirty="0" err="1">
                <a:latin typeface="Times New Roman" panose="02020603050405020304" pitchFamily="18" charset="0"/>
                <a:cs typeface="Times New Roman" panose="02020603050405020304" pitchFamily="18" charset="0"/>
              </a:rPr>
              <a:t>Sadwika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6717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6" name="TextBox 5">
            <a:extLst>
              <a:ext uri="{FF2B5EF4-FFF2-40B4-BE49-F238E27FC236}">
                <a16:creationId xmlns:a16="http://schemas.microsoft.com/office/drawing/2014/main" id="{8272762E-BF0C-AF6F-2EE6-38CBFA795211}"/>
              </a:ext>
            </a:extLst>
          </p:cNvPr>
          <p:cNvSpPr txBox="1"/>
          <p:nvPr/>
        </p:nvSpPr>
        <p:spPr>
          <a:xfrm>
            <a:off x="978408" y="2258568"/>
            <a:ext cx="10360152"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Traffic congestion has become a major problem in urban areas due to the rapid increase in the number of vehicles on roads. Traditional traffic signal systems use fixed timing mechanisms, which often fail to manage varying traffic conditions efficiently. This results in unnecessary delays, fuel wastage, increased pollution, and traffic jams.</a:t>
            </a:r>
          </a:p>
          <a:p>
            <a:r>
              <a:rPr lang="en-US" dirty="0">
                <a:latin typeface="Times New Roman" panose="02020603050405020304" pitchFamily="18" charset="0"/>
                <a:cs typeface="Times New Roman" panose="02020603050405020304" pitchFamily="18" charset="0"/>
              </a:rPr>
              <a:t>To overcome these issues, this project proposes a </a:t>
            </a:r>
            <a:r>
              <a:rPr lang="en-US" b="1" dirty="0">
                <a:latin typeface="Times New Roman" panose="02020603050405020304" pitchFamily="18" charset="0"/>
                <a:cs typeface="Times New Roman" panose="02020603050405020304" pitchFamily="18" charset="0"/>
              </a:rPr>
              <a:t>Traffic Signal Optimization System using a Rule-Based Approach</a:t>
            </a:r>
            <a:r>
              <a:rPr lang="en-US" dirty="0">
                <a:latin typeface="Times New Roman" panose="02020603050405020304" pitchFamily="18" charset="0"/>
                <a:cs typeface="Times New Roman" panose="02020603050405020304" pitchFamily="18" charset="0"/>
              </a:rPr>
              <a:t>. The system analyzes real-time traffic density using sensors or cameras and dynamically adjusts signal timings using heuristic rules and decision logic without Machine Learning. The proposed solution improves traffic flow, reduces waiting time, and provides an efficient, cost-effective, and reliable traffic management system for smart cities</a:t>
            </a:r>
          </a:p>
          <a:p>
            <a:endParaRPr lang="en-US" dirty="0"/>
          </a:p>
          <a:p>
            <a:endParaRPr lang="en-IN" dirty="0"/>
          </a:p>
        </p:txBody>
      </p:sp>
    </p:spTree>
    <p:extLst>
      <p:ext uri="{BB962C8B-B14F-4D97-AF65-F5344CB8AC3E}">
        <p14:creationId xmlns:p14="http://schemas.microsoft.com/office/powerpoint/2010/main" val="3748348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8040D111-8D36-9D20-8F54-89D75B46FAC4}"/>
              </a:ext>
            </a:extLst>
          </p:cNvPr>
          <p:cNvSpPr txBox="1"/>
          <p:nvPr/>
        </p:nvSpPr>
        <p:spPr>
          <a:xfrm>
            <a:off x="914400" y="2066544"/>
            <a:ext cx="10439400" cy="221599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Traditional traffic signal systems use fixed timing mechanisms that do not adapt to real-time traffic conditions. This often leads to traffic congestion, long waiting times, fuel wastage, and increased pollution, especially during peak hours. Roads with heavy traffic receive the same signal timing as low-traffic roads, resulting in inefficient traffic management. Therefore, an intelligent and cost-effective system is needed to dynamically optimize traffic signal timings and improve overall traffic flow.</a:t>
            </a:r>
          </a:p>
          <a:p>
            <a:endParaRPr lang="en-IN" dirty="0"/>
          </a:p>
        </p:txBody>
      </p:sp>
    </p:spTree>
    <p:extLst>
      <p:ext uri="{BB962C8B-B14F-4D97-AF65-F5344CB8AC3E}">
        <p14:creationId xmlns:p14="http://schemas.microsoft.com/office/powerpoint/2010/main" val="4230106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5BED-0BC4-ABFF-F355-CDF75237624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 of the Project</a:t>
            </a:r>
          </a:p>
        </p:txBody>
      </p:sp>
      <p:sp>
        <p:nvSpPr>
          <p:cNvPr id="3" name="Content Placeholder 2">
            <a:extLst>
              <a:ext uri="{FF2B5EF4-FFF2-40B4-BE49-F238E27FC236}">
                <a16:creationId xmlns:a16="http://schemas.microsoft.com/office/drawing/2014/main" id="{C80B6D39-3740-A522-CF28-CEE84B2045AA}"/>
              </a:ext>
            </a:extLst>
          </p:cNvPr>
          <p:cNvSpPr>
            <a:spLocks noGrp="1"/>
          </p:cNvSpPr>
          <p:nvPr>
            <p:ph sz="quarter" idx="13"/>
          </p:nvPr>
        </p:nvSpPr>
        <p:spPr>
          <a:xfrm>
            <a:off x="914398" y="2039112"/>
            <a:ext cx="10360151" cy="3904488"/>
          </a:xfrm>
        </p:spPr>
        <p:txBody>
          <a:bodyPr/>
          <a:lstStyle/>
          <a:p>
            <a:r>
              <a:rPr lang="en-US" sz="1800" dirty="0">
                <a:latin typeface="Times New Roman" panose="02020603050405020304" pitchFamily="18" charset="0"/>
                <a:cs typeface="Times New Roman" panose="02020603050405020304" pitchFamily="18" charset="0"/>
              </a:rPr>
              <a:t>Reduce traffic congestion at road intersections </a:t>
            </a:r>
          </a:p>
          <a:p>
            <a:r>
              <a:rPr lang="en-US" sz="1800" dirty="0">
                <a:latin typeface="Times New Roman" panose="02020603050405020304" pitchFamily="18" charset="0"/>
                <a:cs typeface="Times New Roman" panose="02020603050405020304" pitchFamily="18" charset="0"/>
              </a:rPr>
              <a:t>Optimize traffic signal timings using heuristic rules </a:t>
            </a:r>
          </a:p>
          <a:p>
            <a:r>
              <a:rPr lang="en-US" sz="1800" dirty="0">
                <a:latin typeface="Times New Roman" panose="02020603050405020304" pitchFamily="18" charset="0"/>
                <a:cs typeface="Times New Roman" panose="02020603050405020304" pitchFamily="18" charset="0"/>
              </a:rPr>
              <a:t>Improve overall vehicle movement efficiency </a:t>
            </a:r>
          </a:p>
          <a:p>
            <a:r>
              <a:rPr lang="en-US" sz="1800" dirty="0">
                <a:latin typeface="Times New Roman" panose="02020603050405020304" pitchFamily="18" charset="0"/>
                <a:cs typeface="Times New Roman" panose="02020603050405020304" pitchFamily="18" charset="0"/>
              </a:rPr>
              <a:t>Minimize unnecessary waiting time for vehicles </a:t>
            </a:r>
          </a:p>
          <a:p>
            <a:r>
              <a:rPr lang="en-US" sz="1800" dirty="0">
                <a:latin typeface="Times New Roman" panose="02020603050405020304" pitchFamily="18" charset="0"/>
                <a:cs typeface="Times New Roman" panose="02020603050405020304" pitchFamily="18" charset="0"/>
              </a:rPr>
              <a:t>Demonstrate the practical application of rule-based AI techniques </a:t>
            </a:r>
          </a:p>
          <a:p>
            <a:r>
              <a:rPr lang="en-US" sz="1800" dirty="0">
                <a:latin typeface="Times New Roman" panose="02020603050405020304" pitchFamily="18" charset="0"/>
                <a:cs typeface="Times New Roman" panose="02020603050405020304" pitchFamily="18" charset="0"/>
              </a:rPr>
              <a:t>Provide a simple, reliable, and cost-effective traffic management solution </a:t>
            </a:r>
          </a:p>
          <a:p>
            <a:pPr marL="0" indent="0">
              <a:buNone/>
            </a:pPr>
            <a:endParaRPr lang="en-IN" dirty="0"/>
          </a:p>
        </p:txBody>
      </p:sp>
    </p:spTree>
    <p:extLst>
      <p:ext uri="{BB962C8B-B14F-4D97-AF65-F5344CB8AC3E}">
        <p14:creationId xmlns:p14="http://schemas.microsoft.com/office/powerpoint/2010/main" val="1211396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C52A-B746-CE32-165D-DEF35C32AA7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Technologies Required</a:t>
            </a:r>
          </a:p>
        </p:txBody>
      </p:sp>
      <p:sp>
        <p:nvSpPr>
          <p:cNvPr id="3" name="Content Placeholder 2">
            <a:extLst>
              <a:ext uri="{FF2B5EF4-FFF2-40B4-BE49-F238E27FC236}">
                <a16:creationId xmlns:a16="http://schemas.microsoft.com/office/drawing/2014/main" id="{0F47B3B7-4530-47FC-57C7-3C73CF48EA70}"/>
              </a:ext>
            </a:extLst>
          </p:cNvPr>
          <p:cNvSpPr>
            <a:spLocks noGrp="1"/>
          </p:cNvSpPr>
          <p:nvPr>
            <p:ph sz="quarter" idx="11"/>
          </p:nvPr>
        </p:nvSpPr>
        <p:spPr>
          <a:xfrm>
            <a:off x="996696" y="2066545"/>
            <a:ext cx="4576953" cy="3877055"/>
          </a:xfrm>
        </p:spPr>
        <p:txBody>
          <a:bodyPr>
            <a:normAutofit lnSpcReduction="10000"/>
          </a:bodyPr>
          <a:lstStyle/>
          <a:p>
            <a:r>
              <a:rPr lang="en-IN" sz="1800" b="1" dirty="0">
                <a:latin typeface="Times New Roman" panose="02020603050405020304" pitchFamily="18" charset="0"/>
                <a:cs typeface="Times New Roman" panose="02020603050405020304" pitchFamily="18" charset="0"/>
              </a:rPr>
              <a:t>Software</a:t>
            </a:r>
          </a:p>
          <a:p>
            <a:r>
              <a:rPr lang="en-IN" sz="1600" dirty="0">
                <a:latin typeface="Times New Roman" panose="02020603050405020304" pitchFamily="18" charset="0"/>
                <a:cs typeface="Times New Roman" panose="02020603050405020304" pitchFamily="18" charset="0"/>
              </a:rPr>
              <a:t>Python </a:t>
            </a:r>
          </a:p>
          <a:p>
            <a:r>
              <a:rPr lang="en-IN" sz="1600" dirty="0">
                <a:latin typeface="Times New Roman" panose="02020603050405020304" pitchFamily="18" charset="0"/>
                <a:cs typeface="Times New Roman" panose="02020603050405020304" pitchFamily="18" charset="0"/>
              </a:rPr>
              <a:t>VS Code / PyCharm </a:t>
            </a:r>
          </a:p>
          <a:p>
            <a:r>
              <a:rPr lang="en-IN" sz="1600" dirty="0">
                <a:latin typeface="Times New Roman" panose="02020603050405020304" pitchFamily="18" charset="0"/>
                <a:cs typeface="Times New Roman" panose="02020603050405020304" pitchFamily="18" charset="0"/>
              </a:rPr>
              <a:t>Python Libraries: </a:t>
            </a:r>
          </a:p>
          <a:p>
            <a:pPr lvl="1"/>
            <a:r>
              <a:rPr lang="en-IN" sz="1600" dirty="0">
                <a:latin typeface="Times New Roman" panose="02020603050405020304" pitchFamily="18" charset="0"/>
                <a:cs typeface="Times New Roman" panose="02020603050405020304" pitchFamily="18" charset="0"/>
              </a:rPr>
              <a:t>time </a:t>
            </a:r>
          </a:p>
          <a:p>
            <a:pPr lvl="1"/>
            <a:r>
              <a:rPr lang="en-IN" sz="1600" dirty="0">
                <a:latin typeface="Times New Roman" panose="02020603050405020304" pitchFamily="18" charset="0"/>
                <a:cs typeface="Times New Roman" panose="02020603050405020304" pitchFamily="18" charset="0"/>
              </a:rPr>
              <a:t>random</a:t>
            </a:r>
          </a:p>
          <a:p>
            <a:r>
              <a:rPr lang="en-US" sz="1800" b="1" dirty="0">
                <a:latin typeface="Times New Roman" panose="02020603050405020304" pitchFamily="18" charset="0"/>
                <a:cs typeface="Times New Roman" panose="02020603050405020304" pitchFamily="18" charset="0"/>
              </a:rPr>
              <a:t>Hardware (Optional for Real-Time Implementation)</a:t>
            </a:r>
          </a:p>
          <a:p>
            <a:r>
              <a:rPr lang="en-US" sz="1600" dirty="0">
                <a:latin typeface="Times New Roman" panose="02020603050405020304" pitchFamily="18" charset="0"/>
                <a:cs typeface="Times New Roman" panose="02020603050405020304" pitchFamily="18" charset="0"/>
              </a:rPr>
              <a:t>Traffic Sensors </a:t>
            </a:r>
          </a:p>
          <a:p>
            <a:r>
              <a:rPr lang="en-US" sz="1600" dirty="0">
                <a:latin typeface="Times New Roman" panose="02020603050405020304" pitchFamily="18" charset="0"/>
                <a:cs typeface="Times New Roman" panose="02020603050405020304" pitchFamily="18" charset="0"/>
              </a:rPr>
              <a:t>Camera Modules </a:t>
            </a:r>
          </a:p>
          <a:p>
            <a:r>
              <a:rPr lang="en-US" sz="1600" dirty="0">
                <a:latin typeface="Times New Roman" panose="02020603050405020304" pitchFamily="18" charset="0"/>
                <a:cs typeface="Times New Roman" panose="02020603050405020304" pitchFamily="18" charset="0"/>
              </a:rPr>
              <a:t>Arduino / Raspberry Pi</a:t>
            </a:r>
          </a:p>
          <a:p>
            <a:endParaRPr lang="en-IN" dirty="0"/>
          </a:p>
        </p:txBody>
      </p:sp>
      <p:sp>
        <p:nvSpPr>
          <p:cNvPr id="4" name="Content Placeholder 3">
            <a:extLst>
              <a:ext uri="{FF2B5EF4-FFF2-40B4-BE49-F238E27FC236}">
                <a16:creationId xmlns:a16="http://schemas.microsoft.com/office/drawing/2014/main" id="{2D7D124E-8A4E-5207-7BDE-4E3754A7810D}"/>
              </a:ext>
            </a:extLst>
          </p:cNvPr>
          <p:cNvSpPr>
            <a:spLocks noGrp="1"/>
          </p:cNvSpPr>
          <p:nvPr>
            <p:ph sz="quarter" idx="12"/>
          </p:nvPr>
        </p:nvSpPr>
        <p:spPr/>
        <p:txBody>
          <a:bodyPr>
            <a:normAutofit/>
          </a:bodyPr>
          <a:lstStyle/>
          <a:p>
            <a:r>
              <a:rPr lang="en-US" sz="1800" b="1" dirty="0">
                <a:latin typeface="Times New Roman" panose="02020603050405020304" pitchFamily="18" charset="0"/>
                <a:cs typeface="Times New Roman" panose="02020603050405020304" pitchFamily="18" charset="0"/>
              </a:rPr>
              <a:t>Concepts Used</a:t>
            </a:r>
          </a:p>
          <a:p>
            <a:r>
              <a:rPr lang="en-US" sz="1500" dirty="0">
                <a:latin typeface="Times New Roman" panose="02020603050405020304" pitchFamily="18" charset="0"/>
                <a:cs typeface="Times New Roman" panose="02020603050405020304" pitchFamily="18" charset="0"/>
              </a:rPr>
              <a:t>Rule-Based AI Techniques </a:t>
            </a:r>
          </a:p>
          <a:p>
            <a:r>
              <a:rPr lang="en-US" sz="1500" dirty="0">
                <a:latin typeface="Times New Roman" panose="02020603050405020304" pitchFamily="18" charset="0"/>
                <a:cs typeface="Times New Roman" panose="02020603050405020304" pitchFamily="18" charset="0"/>
              </a:rPr>
              <a:t>Heuristic Rules </a:t>
            </a:r>
          </a:p>
          <a:p>
            <a:r>
              <a:rPr lang="en-US" sz="1500" dirty="0">
                <a:latin typeface="Times New Roman" panose="02020603050405020304" pitchFamily="18" charset="0"/>
                <a:cs typeface="Times New Roman" panose="02020603050405020304" pitchFamily="18" charset="0"/>
              </a:rPr>
              <a:t>Computational Decision Logic </a:t>
            </a:r>
          </a:p>
          <a:p>
            <a:r>
              <a:rPr lang="en-US" sz="1500" dirty="0">
                <a:latin typeface="Times New Roman" panose="02020603050405020304" pitchFamily="18" charset="0"/>
                <a:cs typeface="Times New Roman" panose="02020603050405020304" pitchFamily="18" charset="0"/>
              </a:rPr>
              <a:t>Traffic Density Analysis</a:t>
            </a:r>
          </a:p>
          <a:p>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043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8E8D-CBB5-33A1-6153-54506FFD4EB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Why This Project?</a:t>
            </a:r>
          </a:p>
        </p:txBody>
      </p:sp>
      <p:sp>
        <p:nvSpPr>
          <p:cNvPr id="3" name="Content Placeholder 2">
            <a:extLst>
              <a:ext uri="{FF2B5EF4-FFF2-40B4-BE49-F238E27FC236}">
                <a16:creationId xmlns:a16="http://schemas.microsoft.com/office/drawing/2014/main" id="{D2F8A23B-EA92-EC6C-44DA-473DF9A51FC9}"/>
              </a:ext>
            </a:extLst>
          </p:cNvPr>
          <p:cNvSpPr>
            <a:spLocks noGrp="1"/>
          </p:cNvSpPr>
          <p:nvPr>
            <p:ph sz="quarter" idx="13"/>
          </p:nvPr>
        </p:nvSpPr>
        <p:spPr>
          <a:xfrm>
            <a:off x="914398" y="2039112"/>
            <a:ext cx="10360151" cy="3904488"/>
          </a:xfrm>
        </p:spPr>
        <p:txBody>
          <a:bodyPr/>
          <a:lstStyle/>
          <a:p>
            <a:r>
              <a:rPr lang="en-US" sz="1800" dirty="0">
                <a:latin typeface="Times New Roman" panose="02020603050405020304" pitchFamily="18" charset="0"/>
                <a:cs typeface="Times New Roman" panose="02020603050405020304" pitchFamily="18" charset="0"/>
              </a:rPr>
              <a:t>🚦 Increasing vehicle population causes severe traffic congestion in cities.</a:t>
            </a:r>
          </a:p>
          <a:p>
            <a:r>
              <a:rPr lang="en-US" sz="1800" dirty="0">
                <a:latin typeface="Times New Roman" panose="02020603050405020304" pitchFamily="18" charset="0"/>
                <a:cs typeface="Times New Roman" panose="02020603050405020304" pitchFamily="18" charset="0"/>
              </a:rPr>
              <a:t>⏳ Fixed-time traffic signals cannot handle changing traffic conditions efficiently.</a:t>
            </a:r>
          </a:p>
          <a:p>
            <a:r>
              <a:rPr lang="en-US" sz="1800" dirty="0">
                <a:latin typeface="Times New Roman" panose="02020603050405020304" pitchFamily="18" charset="0"/>
                <a:cs typeface="Times New Roman" panose="02020603050405020304" pitchFamily="18" charset="0"/>
              </a:rPr>
              <a:t>🚗 Vehicles waste fuel and time while waiting at signals unnecessarily.</a:t>
            </a:r>
          </a:p>
          <a:p>
            <a:r>
              <a:rPr lang="en-US" sz="1800" dirty="0">
                <a:latin typeface="Times New Roman" panose="02020603050405020304" pitchFamily="18" charset="0"/>
                <a:cs typeface="Times New Roman" panose="02020603050405020304" pitchFamily="18" charset="0"/>
              </a:rPr>
              <a:t>🧠 A smart rule-based traffic system can dynamically optimize signal timings and improve road efficiency</a:t>
            </a:r>
            <a:r>
              <a:rPr lang="en-US" sz="1500"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116289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B025F-14D0-4365-4E69-801D9A481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A3109-ED5E-1BE9-9911-E36BFB096E3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System vs Proposed System</a:t>
            </a:r>
          </a:p>
        </p:txBody>
      </p:sp>
      <p:graphicFrame>
        <p:nvGraphicFramePr>
          <p:cNvPr id="3" name="Table 2">
            <a:extLst>
              <a:ext uri="{FF2B5EF4-FFF2-40B4-BE49-F238E27FC236}">
                <a16:creationId xmlns:a16="http://schemas.microsoft.com/office/drawing/2014/main" id="{EB007B1F-BA00-851B-3934-28DA07DCD7E9}"/>
              </a:ext>
            </a:extLst>
          </p:cNvPr>
          <p:cNvGraphicFramePr>
            <a:graphicFrameLocks noGrp="1"/>
          </p:cNvGraphicFramePr>
          <p:nvPr>
            <p:extLst>
              <p:ext uri="{D42A27DB-BD31-4B8C-83A1-F6EECF244321}">
                <p14:modId xmlns:p14="http://schemas.microsoft.com/office/powerpoint/2010/main" val="3617774089"/>
              </p:ext>
            </p:extLst>
          </p:nvPr>
        </p:nvGraphicFramePr>
        <p:xfrm>
          <a:off x="969264" y="2167128"/>
          <a:ext cx="10305288" cy="3405432"/>
        </p:xfrm>
        <a:graphic>
          <a:graphicData uri="http://schemas.openxmlformats.org/drawingml/2006/table">
            <a:tbl>
              <a:tblPr/>
              <a:tblGrid>
                <a:gridCol w="5129784">
                  <a:extLst>
                    <a:ext uri="{9D8B030D-6E8A-4147-A177-3AD203B41FA5}">
                      <a16:colId xmlns:a16="http://schemas.microsoft.com/office/drawing/2014/main" val="40627157"/>
                    </a:ext>
                  </a:extLst>
                </a:gridCol>
                <a:gridCol w="5175504">
                  <a:extLst>
                    <a:ext uri="{9D8B030D-6E8A-4147-A177-3AD203B41FA5}">
                      <a16:colId xmlns:a16="http://schemas.microsoft.com/office/drawing/2014/main" val="1685032323"/>
                    </a:ext>
                  </a:extLst>
                </a:gridCol>
              </a:tblGrid>
              <a:tr h="566928">
                <a:tc>
                  <a:txBody>
                    <a:bodyPr/>
                    <a:lstStyle/>
                    <a:p>
                      <a:pPr>
                        <a:buNone/>
                      </a:pPr>
                      <a:r>
                        <a:rPr lang="en-IN" sz="1800" b="1" dirty="0">
                          <a:latin typeface="Times New Roman" panose="02020603050405020304" pitchFamily="18" charset="0"/>
                          <a:cs typeface="Times New Roman" panose="02020603050405020304" pitchFamily="18" charset="0"/>
                        </a:rPr>
                        <a:t>                    Existing System</a:t>
                      </a:r>
                    </a:p>
                  </a:txBody>
                  <a:tcPr anchor="ctr">
                    <a:lnL>
                      <a:noFill/>
                    </a:lnL>
                    <a:lnR>
                      <a:noFill/>
                    </a:lnR>
                    <a:lnT>
                      <a:noFill/>
                    </a:lnT>
                    <a:lnB>
                      <a:noFill/>
                    </a:lnB>
                    <a:solidFill>
                      <a:schemeClr val="accent6"/>
                    </a:solidFill>
                  </a:tcPr>
                </a:tc>
                <a:tc>
                  <a:txBody>
                    <a:bodyPr/>
                    <a:lstStyle/>
                    <a:p>
                      <a:pPr>
                        <a:buNone/>
                      </a:pP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Proposed System</a:t>
                      </a:r>
                    </a:p>
                  </a:txBody>
                  <a:tcPr anchor="ctr">
                    <a:lnL>
                      <a:noFill/>
                    </a:lnL>
                    <a:lnR>
                      <a:noFill/>
                    </a:lnR>
                    <a:lnT>
                      <a:noFill/>
                    </a:lnT>
                    <a:lnB>
                      <a:noFill/>
                    </a:lnB>
                    <a:solidFill>
                      <a:schemeClr val="accent6"/>
                    </a:solidFill>
                  </a:tcPr>
                </a:tc>
                <a:extLst>
                  <a:ext uri="{0D108BD9-81ED-4DB2-BD59-A6C34878D82A}">
                    <a16:rowId xmlns:a16="http://schemas.microsoft.com/office/drawing/2014/main" val="1551366072"/>
                  </a:ext>
                </a:extLst>
              </a:tr>
              <a:tr h="473084">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Uses fixed signal timings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Uses dynamic signal timings</a:t>
                      </a:r>
                    </a:p>
                  </a:txBody>
                  <a:tcPr anchor="ctr">
                    <a:lnL>
                      <a:noFill/>
                    </a:lnL>
                    <a:lnR>
                      <a:noFill/>
                    </a:lnR>
                    <a:lnT>
                      <a:noFill/>
                    </a:lnT>
                    <a:lnB>
                      <a:noFill/>
                    </a:lnB>
                    <a:noFill/>
                  </a:tcPr>
                </a:tc>
                <a:extLst>
                  <a:ext uri="{0D108BD9-81ED-4DB2-BD59-A6C34878D82A}">
                    <a16:rowId xmlns:a16="http://schemas.microsoft.com/office/drawing/2014/main" val="3837678933"/>
                  </a:ext>
                </a:extLst>
              </a:tr>
              <a:tr h="473084">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Cannot adapt to traffic density</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Adjusts signals based on vehicle count</a:t>
                      </a:r>
                    </a:p>
                  </a:txBody>
                  <a:tcPr anchor="ctr">
                    <a:lnL>
                      <a:noFill/>
                    </a:lnL>
                    <a:lnR>
                      <a:noFill/>
                    </a:lnR>
                    <a:lnT>
                      <a:noFill/>
                    </a:lnT>
                    <a:lnB>
                      <a:noFill/>
                    </a:lnB>
                    <a:noFill/>
                  </a:tcPr>
                </a:tc>
                <a:extLst>
                  <a:ext uri="{0D108BD9-81ED-4DB2-BD59-A6C34878D82A}">
                    <a16:rowId xmlns:a16="http://schemas.microsoft.com/office/drawing/2014/main" val="519268258"/>
                  </a:ext>
                </a:extLst>
              </a:tr>
              <a:tr h="473084">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Causes longer waiting time</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Reduces unnecessary delays</a:t>
                      </a:r>
                    </a:p>
                  </a:txBody>
                  <a:tcPr anchor="ctr">
                    <a:lnL>
                      <a:noFill/>
                    </a:lnL>
                    <a:lnR>
                      <a:noFill/>
                    </a:lnR>
                    <a:lnT>
                      <a:noFill/>
                    </a:lnT>
                    <a:lnB>
                      <a:noFill/>
                    </a:lnB>
                    <a:noFill/>
                  </a:tcPr>
                </a:tc>
                <a:extLst>
                  <a:ext uri="{0D108BD9-81ED-4DB2-BD59-A6C34878D82A}">
                    <a16:rowId xmlns:a16="http://schemas.microsoft.com/office/drawing/2014/main" val="2829751753"/>
                  </a:ext>
                </a:extLst>
              </a:tr>
              <a:tr h="473084">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Inefficient during peak hours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Optimizes traffic flow efficiently</a:t>
                      </a:r>
                    </a:p>
                  </a:txBody>
                  <a:tcPr anchor="ctr">
                    <a:lnL>
                      <a:noFill/>
                    </a:lnL>
                    <a:lnR>
                      <a:noFill/>
                    </a:lnR>
                    <a:lnT>
                      <a:noFill/>
                    </a:lnT>
                    <a:lnB>
                      <a:noFill/>
                    </a:lnB>
                    <a:noFill/>
                  </a:tcPr>
                </a:tc>
                <a:extLst>
                  <a:ext uri="{0D108BD9-81ED-4DB2-BD59-A6C34878D82A}">
                    <a16:rowId xmlns:a16="http://schemas.microsoft.com/office/drawing/2014/main" val="694434777"/>
                  </a:ext>
                </a:extLst>
              </a:tr>
              <a:tr h="473084">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Higher fuel wastage</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Reduces fuel consumption</a:t>
                      </a:r>
                    </a:p>
                  </a:txBody>
                  <a:tcPr anchor="ctr">
                    <a:lnL>
                      <a:noFill/>
                    </a:lnL>
                    <a:lnR>
                      <a:noFill/>
                    </a:lnR>
                    <a:lnT>
                      <a:noFill/>
                    </a:lnT>
                    <a:lnB>
                      <a:noFill/>
                    </a:lnB>
                    <a:noFill/>
                  </a:tcPr>
                </a:tc>
                <a:extLst>
                  <a:ext uri="{0D108BD9-81ED-4DB2-BD59-A6C34878D82A}">
                    <a16:rowId xmlns:a16="http://schemas.microsoft.com/office/drawing/2014/main" val="1930424322"/>
                  </a:ext>
                </a:extLst>
              </a:tr>
              <a:tr h="473084">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Limited intelligence</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Uses rule-based AI decision logic</a:t>
                      </a:r>
                    </a:p>
                  </a:txBody>
                  <a:tcPr anchor="ctr">
                    <a:lnL>
                      <a:noFill/>
                    </a:lnL>
                    <a:lnR>
                      <a:noFill/>
                    </a:lnR>
                    <a:lnT>
                      <a:noFill/>
                    </a:lnT>
                    <a:lnB>
                      <a:noFill/>
                    </a:lnB>
                    <a:noFill/>
                  </a:tcPr>
                </a:tc>
                <a:extLst>
                  <a:ext uri="{0D108BD9-81ED-4DB2-BD59-A6C34878D82A}">
                    <a16:rowId xmlns:a16="http://schemas.microsoft.com/office/drawing/2014/main" val="1218723197"/>
                  </a:ext>
                </a:extLst>
              </a:tr>
            </a:tbl>
          </a:graphicData>
        </a:graphic>
      </p:graphicFrame>
    </p:spTree>
    <p:extLst>
      <p:ext uri="{BB962C8B-B14F-4D97-AF65-F5344CB8AC3E}">
        <p14:creationId xmlns:p14="http://schemas.microsoft.com/office/powerpoint/2010/main" val="953599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9F5A-FD74-CDC1-FB2C-9A0D348D2A5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System Architecture</a:t>
            </a:r>
          </a:p>
        </p:txBody>
      </p:sp>
      <p:sp>
        <p:nvSpPr>
          <p:cNvPr id="3" name="Content Placeholder 2">
            <a:extLst>
              <a:ext uri="{FF2B5EF4-FFF2-40B4-BE49-F238E27FC236}">
                <a16:creationId xmlns:a16="http://schemas.microsoft.com/office/drawing/2014/main" id="{24EC9D54-E878-CF4E-001B-895570B5A5C6}"/>
              </a:ext>
            </a:extLst>
          </p:cNvPr>
          <p:cNvSpPr>
            <a:spLocks noGrp="1"/>
          </p:cNvSpPr>
          <p:nvPr>
            <p:ph sz="quarter" idx="13"/>
          </p:nvPr>
        </p:nvSpPr>
        <p:spPr>
          <a:xfrm>
            <a:off x="914398" y="2039112"/>
            <a:ext cx="10360151" cy="3904488"/>
          </a:xfrm>
        </p:spPr>
        <p:txBody>
          <a:bodyPr/>
          <a:lstStyle/>
          <a:p>
            <a:pPr marL="0" indent="0">
              <a:buNone/>
            </a:pPr>
            <a:r>
              <a:rPr lang="en-IN" dirty="0"/>
              <a:t>                                           </a:t>
            </a:r>
            <a:r>
              <a:rPr lang="en-IN" sz="1800" dirty="0">
                <a:latin typeface="Times New Roman" panose="02020603050405020304" pitchFamily="18" charset="0"/>
                <a:cs typeface="Times New Roman" panose="02020603050405020304" pitchFamily="18" charset="0"/>
              </a:rPr>
              <a:t>📷 Traffic Sensors / Cameras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 Traffic Density Detection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 Rule-Based Decision Engine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 Dynamic Signal Time Allocation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 Optimized Traffic Flow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2041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E2FBC-DA7E-6D37-E07D-42E21E0C0E7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Workflow of the System</a:t>
            </a:r>
          </a:p>
        </p:txBody>
      </p:sp>
      <p:sp>
        <p:nvSpPr>
          <p:cNvPr id="3" name="Content Placeholder 2">
            <a:extLst>
              <a:ext uri="{FF2B5EF4-FFF2-40B4-BE49-F238E27FC236}">
                <a16:creationId xmlns:a16="http://schemas.microsoft.com/office/drawing/2014/main" id="{893B8261-B2D8-EBA2-63B1-C15B800BE294}"/>
              </a:ext>
            </a:extLst>
          </p:cNvPr>
          <p:cNvSpPr>
            <a:spLocks noGrp="1"/>
          </p:cNvSpPr>
          <p:nvPr>
            <p:ph sz="quarter" idx="11"/>
          </p:nvPr>
        </p:nvSpPr>
        <p:spPr>
          <a:xfrm>
            <a:off x="914400" y="2039112"/>
            <a:ext cx="10360152" cy="3877055"/>
          </a:xfrm>
        </p:spPr>
        <p:txBody>
          <a:bodyPr>
            <a:normAutofit fontScale="92500" lnSpcReduction="10000"/>
          </a:bodyPr>
          <a:lstStyle/>
          <a:p>
            <a:r>
              <a:rPr lang="en-US" sz="1900" b="1" dirty="0">
                <a:latin typeface="Times New Roman" panose="02020603050405020304" pitchFamily="18" charset="0"/>
                <a:cs typeface="Times New Roman" panose="02020603050405020304" pitchFamily="18" charset="0"/>
              </a:rPr>
              <a:t>Step 1: Traffic Data Collection</a:t>
            </a:r>
          </a:p>
          <a:p>
            <a:r>
              <a:rPr lang="en-US" sz="1900" dirty="0">
                <a:latin typeface="Times New Roman" panose="02020603050405020304" pitchFamily="18" charset="0"/>
                <a:cs typeface="Times New Roman" panose="02020603050405020304" pitchFamily="18" charset="0"/>
              </a:rPr>
              <a:t>Sensors or cameras detect the number of vehicles on each road.</a:t>
            </a:r>
          </a:p>
          <a:p>
            <a:r>
              <a:rPr lang="en-US" sz="1900" b="1" dirty="0">
                <a:latin typeface="Times New Roman" panose="02020603050405020304" pitchFamily="18" charset="0"/>
                <a:cs typeface="Times New Roman" panose="02020603050405020304" pitchFamily="18" charset="0"/>
              </a:rPr>
              <a:t>Step 2: Traffic Density Analysis</a:t>
            </a:r>
          </a:p>
          <a:p>
            <a:r>
              <a:rPr lang="en-US" sz="1900" dirty="0">
                <a:latin typeface="Times New Roman" panose="02020603050405020304" pitchFamily="18" charset="0"/>
                <a:cs typeface="Times New Roman" panose="02020603050405020304" pitchFamily="18" charset="0"/>
              </a:rPr>
              <a:t>The system analyzes traffic conditions in real time.</a:t>
            </a:r>
          </a:p>
          <a:p>
            <a:r>
              <a:rPr lang="en-US" sz="1900" b="1" dirty="0">
                <a:latin typeface="Times New Roman" panose="02020603050405020304" pitchFamily="18" charset="0"/>
                <a:cs typeface="Times New Roman" panose="02020603050405020304" pitchFamily="18" charset="0"/>
              </a:rPr>
              <a:t>Step 3: Rule Evaluation</a:t>
            </a:r>
          </a:p>
          <a:p>
            <a:r>
              <a:rPr lang="en-US" sz="1900" dirty="0">
                <a:latin typeface="Times New Roman" panose="02020603050405020304" pitchFamily="18" charset="0"/>
                <a:cs typeface="Times New Roman" panose="02020603050405020304" pitchFamily="18" charset="0"/>
              </a:rPr>
              <a:t>Heuristic rules and decision logic are applied.</a:t>
            </a:r>
          </a:p>
          <a:p>
            <a:r>
              <a:rPr lang="en-US" sz="1900" b="1" dirty="0">
                <a:latin typeface="Times New Roman" panose="02020603050405020304" pitchFamily="18" charset="0"/>
                <a:cs typeface="Times New Roman" panose="02020603050405020304" pitchFamily="18" charset="0"/>
              </a:rPr>
              <a:t>Step 4: Signal Optimization</a:t>
            </a:r>
          </a:p>
          <a:p>
            <a:r>
              <a:rPr lang="en-US" sz="1900" dirty="0">
                <a:latin typeface="Times New Roman" panose="02020603050405020304" pitchFamily="18" charset="0"/>
                <a:cs typeface="Times New Roman" panose="02020603050405020304" pitchFamily="18" charset="0"/>
              </a:rPr>
              <a:t>Green signal time is adjusted dynamically based on traffic density.</a:t>
            </a:r>
          </a:p>
          <a:p>
            <a:r>
              <a:rPr lang="en-US" sz="1900" b="1" dirty="0">
                <a:latin typeface="Times New Roman" panose="02020603050405020304" pitchFamily="18" charset="0"/>
                <a:cs typeface="Times New Roman" panose="02020603050405020304" pitchFamily="18" charset="0"/>
              </a:rPr>
              <a:t>Step 5: Continuous Monitoring</a:t>
            </a:r>
          </a:p>
          <a:p>
            <a:r>
              <a:rPr lang="en-US" sz="1900" dirty="0">
                <a:latin typeface="Times New Roman" panose="02020603050405020304" pitchFamily="18" charset="0"/>
                <a:cs typeface="Times New Roman" panose="02020603050405020304" pitchFamily="18" charset="0"/>
              </a:rPr>
              <a:t>The process repeats continuously for smooth traffic flow management.</a:t>
            </a:r>
          </a:p>
          <a:p>
            <a:endParaRPr lang="en-IN" dirty="0"/>
          </a:p>
        </p:txBody>
      </p:sp>
    </p:spTree>
    <p:extLst>
      <p:ext uri="{BB962C8B-B14F-4D97-AF65-F5344CB8AC3E}">
        <p14:creationId xmlns:p14="http://schemas.microsoft.com/office/powerpoint/2010/main" val="607718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B9FE-AC0B-940E-2BE6-92134A109A9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Heuristic Rules Used</a:t>
            </a:r>
          </a:p>
        </p:txBody>
      </p:sp>
      <p:sp>
        <p:nvSpPr>
          <p:cNvPr id="3" name="Content Placeholder 2">
            <a:extLst>
              <a:ext uri="{FF2B5EF4-FFF2-40B4-BE49-F238E27FC236}">
                <a16:creationId xmlns:a16="http://schemas.microsoft.com/office/drawing/2014/main" id="{80DC3EC7-7184-49BD-2B63-B274F0446E69}"/>
              </a:ext>
            </a:extLst>
          </p:cNvPr>
          <p:cNvSpPr>
            <a:spLocks noGrp="1"/>
          </p:cNvSpPr>
          <p:nvPr>
            <p:ph sz="quarter" idx="13"/>
          </p:nvPr>
        </p:nvSpPr>
        <p:spPr>
          <a:xfrm>
            <a:off x="914398" y="2039112"/>
            <a:ext cx="10360151" cy="3904488"/>
          </a:xfrm>
        </p:spPr>
        <p:txBody>
          <a:bodyPr/>
          <a:lstStyle/>
          <a:p>
            <a:r>
              <a:rPr lang="en-US" dirty="0"/>
              <a:t>🚦 If traffic density is high → Increase green signal duration</a:t>
            </a:r>
          </a:p>
          <a:p>
            <a:r>
              <a:rPr lang="en-US" dirty="0"/>
              <a:t>🚦 If traffic density is low → Reduce green signal duration</a:t>
            </a:r>
          </a:p>
          <a:p>
            <a:r>
              <a:rPr lang="en-US" dirty="0"/>
              <a:t>🚑 Emergency vehicles receive immediate priority</a:t>
            </a:r>
          </a:p>
          <a:p>
            <a:r>
              <a:rPr lang="en-US" dirty="0"/>
              <a:t>🕒 Peak-hour traffic receives extended signal timing</a:t>
            </a:r>
          </a:p>
          <a:p>
            <a:r>
              <a:rPr lang="en-US" dirty="0"/>
              <a:t>🚶 Pedestrian crossing safety rules can also be included for better road management</a:t>
            </a:r>
          </a:p>
          <a:p>
            <a:pPr marL="0" indent="0">
              <a:buNone/>
            </a:pPr>
            <a:endParaRPr lang="en-IN" dirty="0"/>
          </a:p>
        </p:txBody>
      </p:sp>
    </p:spTree>
    <p:extLst>
      <p:ext uri="{BB962C8B-B14F-4D97-AF65-F5344CB8AC3E}">
        <p14:creationId xmlns:p14="http://schemas.microsoft.com/office/powerpoint/2010/main" val="2216678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EE4D0-811E-6602-17C1-0675E3C7526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 of the 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EA6C4F-528F-CD36-B70A-1DDCD4625722}"/>
              </a:ext>
            </a:extLst>
          </p:cNvPr>
          <p:cNvSpPr>
            <a:spLocks noGrp="1"/>
          </p:cNvSpPr>
          <p:nvPr>
            <p:ph sz="quarter" idx="11"/>
          </p:nvPr>
        </p:nvSpPr>
        <p:spPr>
          <a:xfrm>
            <a:off x="914400" y="2039112"/>
            <a:ext cx="10360152" cy="3877055"/>
          </a:xfrm>
        </p:spPr>
        <p:txBody>
          <a:bodyPr/>
          <a:lstStyle/>
          <a:p>
            <a:pPr marL="342900" indent="-342900">
              <a:buFont typeface="Arial" panose="020B0604020202020204" pitchFamily="34" charset="0"/>
              <a:buChar char="•"/>
            </a:pPr>
            <a:r>
              <a:rPr lang="en-US" dirty="0"/>
              <a:t>Reduces traffic congestion at intersections</a:t>
            </a:r>
          </a:p>
          <a:p>
            <a:pPr marL="342900" indent="-342900">
              <a:buFont typeface="Arial" panose="020B0604020202020204" pitchFamily="34" charset="0"/>
              <a:buChar char="•"/>
            </a:pPr>
            <a:r>
              <a:rPr lang="en-US" dirty="0"/>
              <a:t> Minimizes vehicle waiting time</a:t>
            </a:r>
          </a:p>
          <a:p>
            <a:pPr marL="342900" indent="-342900">
              <a:buFont typeface="Arial" panose="020B0604020202020204" pitchFamily="34" charset="0"/>
              <a:buChar char="•"/>
            </a:pPr>
            <a:r>
              <a:rPr lang="en-US" dirty="0"/>
              <a:t> Improves overall traffic flow efficiency</a:t>
            </a:r>
          </a:p>
          <a:p>
            <a:pPr marL="342900" indent="-342900">
              <a:buFont typeface="Arial" panose="020B0604020202020204" pitchFamily="34" charset="0"/>
              <a:buChar char="•"/>
            </a:pPr>
            <a:r>
              <a:rPr lang="en-US" dirty="0"/>
              <a:t> Saves fuel and reduces air pollution</a:t>
            </a:r>
          </a:p>
          <a:p>
            <a:pPr marL="342900" indent="-342900">
              <a:buFont typeface="Arial" panose="020B0604020202020204" pitchFamily="34" charset="0"/>
              <a:buChar char="•"/>
            </a:pPr>
            <a:r>
              <a:rPr lang="en-US" dirty="0"/>
              <a:t> Simple, reliable, and cost-effective implementation</a:t>
            </a:r>
          </a:p>
          <a:p>
            <a:pPr marL="342900" indent="-342900">
              <a:buFont typeface="Arial" panose="020B0604020202020204" pitchFamily="34" charset="0"/>
              <a:buChar char="•"/>
            </a:pPr>
            <a:r>
              <a:rPr lang="en-US" dirty="0"/>
              <a:t> No Machine Learning or complex training required</a:t>
            </a:r>
          </a:p>
          <a:p>
            <a:pPr marL="342900" indent="-342900">
              <a:buFont typeface="Arial" panose="020B0604020202020204" pitchFamily="34" charset="0"/>
              <a:buChar char="•"/>
            </a:pPr>
            <a:r>
              <a:rPr lang="en-US" dirty="0"/>
              <a:t> Suitable for smart city traffic management systems</a:t>
            </a:r>
          </a:p>
          <a:p>
            <a:endParaRPr lang="en-IN" dirty="0"/>
          </a:p>
        </p:txBody>
      </p:sp>
    </p:spTree>
    <p:extLst>
      <p:ext uri="{BB962C8B-B14F-4D97-AF65-F5344CB8AC3E}">
        <p14:creationId xmlns:p14="http://schemas.microsoft.com/office/powerpoint/2010/main" val="1749639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538F0-E0EC-6E28-3EFF-8F3936D4956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and Expected Output</a:t>
            </a:r>
          </a:p>
        </p:txBody>
      </p:sp>
      <p:sp>
        <p:nvSpPr>
          <p:cNvPr id="3" name="Content Placeholder 2">
            <a:extLst>
              <a:ext uri="{FF2B5EF4-FFF2-40B4-BE49-F238E27FC236}">
                <a16:creationId xmlns:a16="http://schemas.microsoft.com/office/drawing/2014/main" id="{B7F04AFC-0A23-15E1-1571-0B0483FB348C}"/>
              </a:ext>
            </a:extLst>
          </p:cNvPr>
          <p:cNvSpPr>
            <a:spLocks noGrp="1"/>
          </p:cNvSpPr>
          <p:nvPr>
            <p:ph sz="quarter" idx="11"/>
          </p:nvPr>
        </p:nvSpPr>
        <p:spPr>
          <a:xfrm>
            <a:off x="914400" y="2039112"/>
            <a:ext cx="10360152" cy="3877055"/>
          </a:xfrm>
        </p:spPr>
        <p:txBody>
          <a:bodyPr>
            <a:normAutofit/>
          </a:bodyPr>
          <a:lstStyle/>
          <a:p>
            <a:r>
              <a:rPr lang="en-US" sz="1800" dirty="0">
                <a:latin typeface="Times New Roman" panose="02020603050405020304" pitchFamily="18" charset="0"/>
                <a:cs typeface="Times New Roman" panose="02020603050405020304" pitchFamily="18" charset="0"/>
              </a:rPr>
              <a:t>📈 Roads with higher vehicle density receive longer green signals</a:t>
            </a:r>
          </a:p>
          <a:p>
            <a:r>
              <a:rPr lang="en-US" sz="1800" dirty="0">
                <a:latin typeface="Times New Roman" panose="02020603050405020304" pitchFamily="18" charset="0"/>
                <a:cs typeface="Times New Roman" panose="02020603050405020304" pitchFamily="18" charset="0"/>
              </a:rPr>
              <a:t>⏱️ Waiting time at intersections is reduced significantly</a:t>
            </a:r>
          </a:p>
          <a:p>
            <a:r>
              <a:rPr lang="en-US" sz="1800" dirty="0">
                <a:latin typeface="Times New Roman" panose="02020603050405020304" pitchFamily="18" charset="0"/>
                <a:cs typeface="Times New Roman" panose="02020603050405020304" pitchFamily="18" charset="0"/>
              </a:rPr>
              <a:t>🚗 Traffic movement becomes smoother and more efficient</a:t>
            </a:r>
          </a:p>
          <a:p>
            <a:r>
              <a:rPr lang="en-US" sz="1800" dirty="0">
                <a:latin typeface="Times New Roman" panose="02020603050405020304" pitchFamily="18" charset="0"/>
                <a:cs typeface="Times New Roman" panose="02020603050405020304" pitchFamily="18" charset="0"/>
              </a:rPr>
              <a:t>⛽ Fuel consumption and vehicle idling are minimized</a:t>
            </a:r>
          </a:p>
          <a:p>
            <a:r>
              <a:rPr lang="en-US" sz="1800" dirty="0">
                <a:latin typeface="Times New Roman" panose="02020603050405020304" pitchFamily="18" charset="0"/>
                <a:cs typeface="Times New Roman" panose="02020603050405020304" pitchFamily="18" charset="0"/>
              </a:rPr>
              <a:t>🌍 Reduction in traffic congestion and environmental pollution</a:t>
            </a:r>
          </a:p>
          <a:p>
            <a:r>
              <a:rPr lang="en-US" sz="1800" dirty="0">
                <a:latin typeface="Times New Roman" panose="02020603050405020304" pitchFamily="18" charset="0"/>
                <a:cs typeface="Times New Roman" panose="02020603050405020304" pitchFamily="18" charset="0"/>
              </a:rPr>
              <a:t>✅ Better performance compared to traditional fixed-time traffic signals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4670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6BB4-AC6F-B8F0-5BBF-109574F172F4}"/>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730850BB-F4F8-3728-A733-0A514581AC19}"/>
              </a:ext>
            </a:extLst>
          </p:cNvPr>
          <p:cNvPicPr>
            <a:picLocks noGrp="1" noChangeAspect="1"/>
          </p:cNvPicPr>
          <p:nvPr>
            <p:ph sz="quarter" idx="13"/>
          </p:nvPr>
        </p:nvPicPr>
        <p:blipFill>
          <a:blip r:embed="rId2"/>
          <a:stretch>
            <a:fillRect/>
          </a:stretch>
        </p:blipFill>
        <p:spPr>
          <a:xfrm>
            <a:off x="914400" y="2038350"/>
            <a:ext cx="10360151" cy="4691634"/>
          </a:xfrm>
          <a:prstGeom prst="rect">
            <a:avLst/>
          </a:prstGeom>
        </p:spPr>
      </p:pic>
    </p:spTree>
    <p:extLst>
      <p:ext uri="{BB962C8B-B14F-4D97-AF65-F5344CB8AC3E}">
        <p14:creationId xmlns:p14="http://schemas.microsoft.com/office/powerpoint/2010/main" val="17888686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5BA9-8EF7-6F8B-5214-FEB9DF2CAE5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42064866-9F59-331D-F114-047528A20789}"/>
              </a:ext>
            </a:extLst>
          </p:cNvPr>
          <p:cNvSpPr>
            <a:spLocks noGrp="1"/>
          </p:cNvSpPr>
          <p:nvPr>
            <p:ph sz="quarter" idx="13"/>
          </p:nvPr>
        </p:nvSpPr>
        <p:spPr>
          <a:xfrm>
            <a:off x="914398" y="2039112"/>
            <a:ext cx="10360151" cy="3904488"/>
          </a:xfrm>
        </p:spPr>
        <p:txBody>
          <a:bodyPr/>
          <a:lstStyle/>
          <a:p>
            <a:pPr marL="0" indent="0">
              <a:buNone/>
            </a:pPr>
            <a:r>
              <a:rPr lang="en-US" dirty="0">
                <a:latin typeface="Times New Roman" panose="02020603050405020304" pitchFamily="18" charset="0"/>
                <a:cs typeface="Times New Roman" panose="02020603050405020304" pitchFamily="18" charset="0"/>
              </a:rPr>
              <a:t>The Rule-Based Traffic Signal Optimization System provides an efficient and practical solution for managing urban traffic congestion. By using heuristic rules and computational decision logic, the system dynamically adjusts traffic signal timings according to real-time traffic density without relying on Machine Learning techniques. The proposed approach improves traffic flow, reduces waiting time, minimizes fuel consumption, and offers a simple, reliable, and cost-effective solution for smart traffic management.</a:t>
            </a:r>
          </a:p>
          <a:p>
            <a:pPr marL="0" indent="0">
              <a:buNone/>
            </a:pPr>
            <a:endParaRPr lang="en-IN" dirty="0"/>
          </a:p>
        </p:txBody>
      </p:sp>
    </p:spTree>
    <p:extLst>
      <p:ext uri="{BB962C8B-B14F-4D97-AF65-F5344CB8AC3E}">
        <p14:creationId xmlns:p14="http://schemas.microsoft.com/office/powerpoint/2010/main" val="21775508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{FC88CADF-10D9-480D-93D7-0C48B9867650}TFfb9a325e-b4a8-473d-b025-df086f5ae4937a5f077a-90802770140c</Template>
  <TotalTime>99</TotalTime>
  <Words>792</Words>
  <Application>Microsoft Office PowerPoint</Application>
  <PresentationFormat>Widescreen</PresentationFormat>
  <Paragraphs>93</Paragraphs>
  <Slides>14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Courier New</vt:lpstr>
      <vt:lpstr>Gill Sans MT</vt:lpstr>
      <vt:lpstr>Sagona Book</vt:lpstr>
      <vt:lpstr>Times New Roman</vt:lpstr>
      <vt:lpstr>Parcel</vt:lpstr>
      <vt:lpstr>Traffic Signal Optimization (Rule-Based)</vt:lpstr>
      <vt:lpstr>INTRODUCTIon</vt:lpstr>
      <vt:lpstr>Problem statement</vt:lpstr>
      <vt:lpstr>Objectives of the Project</vt:lpstr>
      <vt:lpstr>Technologies Required</vt:lpstr>
      <vt:lpstr>Why This Project?</vt:lpstr>
      <vt:lpstr>Existing System vs Proposed System</vt:lpstr>
      <vt:lpstr>System Architecture</vt:lpstr>
      <vt:lpstr>Workflow of the System</vt:lpstr>
      <vt:lpstr>Heuristic Rules Used</vt:lpstr>
      <vt:lpstr>Advantages of the Proposed System</vt:lpstr>
      <vt:lpstr>Results and Expected Output</vt:lpstr>
      <vt:lpstr>output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Thrinadh Bandaru</dc:creator>
  <cp:lastModifiedBy>Thrinadh Bandaru</cp:lastModifiedBy>
  <cp:revision>7</cp:revision>
  <dcterms:created xsi:type="dcterms:W3CDTF">2026-05-19T08:06:51Z</dcterms:created>
  <dcterms:modified xsi:type="dcterms:W3CDTF">2026-05-30T10:59:55Z</dcterms:modified>
</cp:coreProperties>
</file>